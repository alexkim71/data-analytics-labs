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oto Sans" panose="020B0502040204020203" pitchFamily="34" charset="0"/>
      <p:regular r:id="rId13"/>
    </p:embeddedFont>
    <p:embeddedFont>
      <p:font typeface="Noto Sans Bold" panose="020B0604020202020204" charset="0"/>
      <p:regular r:id="rId14"/>
    </p:embeddedFont>
    <p:embeddedFont>
      <p:font typeface="Noto Sans SemiBold" panose="020B0604020202020204" charset="0"/>
      <p:regular r:id="rId15"/>
    </p:embeddedFont>
    <p:embeddedFont>
      <p:font typeface="Rubik ExtraBold" panose="020B0604020202020204" charset="-79"/>
      <p:regular r:id="rId16"/>
    </p:embeddedFont>
    <p:embeddedFont>
      <p:font typeface="Rubik SemiBold" panose="020B0604020202020204" charset="-79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4027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Вітаю шановну комісію. До вашої уваги захист кваліфікаційної роботи на тему аналізу можливостей LLM Claude в задачах обробки текстової інформації.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Головний виклик сучасності — це лавиноподібне зростання текстових даних. Класичні методи NLP вимагали тренування окремої моделі під кожну задачу, тоді як сучасні LLM пропонують універсальний підхід.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досягнення поставленої мети сформульовано чотири взаємопов'язані дослідницькі завдання, що охоплюють шлях від теорії до практики впровадження.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Об'єктом є загальні процеси обробки тексту засобами LLM, а предметом — конкретні характеристики та переваги архітектури Claude в цих сценаріях.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Усі провідні генеративні LLM сьогодні базуються на авторегресійній decoder-only парадигмі, оптимізованій для масштабування та багатокрокового міркування.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Серед ключових рис Claude виділяються рекордне контекстне вікно та підхід Constitutional AI, який забезпечує високу відповідність стандартам безпеки.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схемі продемонстровано типовий конвеєр: від підготовки промпту до Human-in-the-loop валідації результату обробки.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Розглянуті шість класів задач покривають переважну більшість рутинних інформаційних операцій у бізнес-середовищі та науковій роботі.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Порівняльний аналіз демонструє, що Claude має перевагу в задачах глибокого аналізу великих документів завдяки стабільності утримання довгого контексту.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завершення виділено п'ять ключових напрямків прикладного використання Claude, де центральне місце посідає інтеграція моделі в RAG та СППР.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8958" y="793115"/>
            <a:ext cx="11423364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100" spc="12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Кваліфікаційна робота бакалавра · Спеціальність 122 «Комп'ютерні науки»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8958" y="1247983"/>
            <a:ext cx="10813779" cy="2986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600" dirty="0">
                <a:solidFill>
                  <a:srgbClr val="FFFFFF"/>
                </a:solidFill>
                <a:latin typeface="Rubik ExtraBold" pitchFamily="34" charset="0"/>
                <a:ea typeface="Rubik ExtraBold" pitchFamily="34" charset="-122"/>
                <a:cs typeface="Rubik ExtraBold" pitchFamily="34" charset="-120"/>
              </a:rPr>
              <a:t>Аналіз можливостей використання Claude для обробки текстової інформації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88958" y="4614962"/>
            <a:ext cx="10813779" cy="67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95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Виконавець:</a:t>
            </a:r>
            <a:r>
              <a:rPr lang="en-US" sz="14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Гаврилов Олександр В'ячеславович, група AI243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Керівник:</a:t>
            </a:r>
            <a:r>
              <a:rPr lang="en-US" sz="14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д.т.н., проф. Антощук С.Г.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88958" y="5427762"/>
            <a:ext cx="10813779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Одеський національний політехнічний університет · 2026</a:t>
            </a:r>
            <a:endParaRPr lang="en-US" sz="125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171D7F7-C42E-26FC-0FBF-991CBDD342E6}"/>
              </a:ext>
            </a:extLst>
          </p:cNvPr>
          <p:cNvSpPr/>
          <p:nvPr/>
        </p:nvSpPr>
        <p:spPr>
          <a:xfrm>
            <a:off x="10977098" y="6550090"/>
            <a:ext cx="1135224" cy="2222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53627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АКТУАЛЬНІСТЬ ДОСЛІДЖЕННЯ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624"/>
            <a:ext cx="10972526" cy="934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200" dirty="0">
                <a:solidFill>
                  <a:srgbClr val="1B2632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Обсяги тексту зростають швидше за можливості ручної обробки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053927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Невідповідність між темпами генерації інформації та швидкістю її аналітичного опрацювання людиною.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09585" y="2556371"/>
            <a:ext cx="3572877" cy="2894211"/>
          </a:xfrm>
          <a:prstGeom prst="rect">
            <a:avLst/>
          </a:prstGeom>
          <a:noFill/>
          <a:ln w="25399">
            <a:solidFill>
              <a:srgbClr val="CDD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8179" y="2769096"/>
            <a:ext cx="881140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0E7C86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01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325629" y="2790686"/>
            <a:ext cx="2856833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53627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ВИКЛИК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629" y="3112254"/>
            <a:ext cx="2628239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B26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Проблема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25629" y="3629720"/>
            <a:ext cx="2628239" cy="31651"/>
          </a:xfrm>
          <a:prstGeom prst="roundRect">
            <a:avLst>
              <a:gd name="adj" fmla="val 49998"/>
            </a:avLst>
          </a:prstGeom>
          <a:solidFill>
            <a:srgbClr val="A7B3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25629" y="3843238"/>
            <a:ext cx="262823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Лавиноподібне зростання документів, листів, звернень і публікацій.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309359" y="2556371"/>
            <a:ext cx="3572976" cy="2894211"/>
          </a:xfrm>
          <a:prstGeom prst="rect">
            <a:avLst/>
          </a:prstGeom>
          <a:noFill/>
          <a:ln w="25399">
            <a:solidFill>
              <a:srgbClr val="CDD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37954" y="2769096"/>
            <a:ext cx="881140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0E7C86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02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5025403" y="2790686"/>
            <a:ext cx="2856932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53627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ПОТРЕБА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5403" y="3112254"/>
            <a:ext cx="262833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B26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Необхідність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25403" y="3629720"/>
            <a:ext cx="2628338" cy="31651"/>
          </a:xfrm>
          <a:prstGeom prst="roundRect">
            <a:avLst>
              <a:gd name="adj" fmla="val 49998"/>
            </a:avLst>
          </a:prstGeom>
          <a:solidFill>
            <a:srgbClr val="A7B3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5403" y="3843238"/>
            <a:ext cx="2628338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Автоматизація узагальнення, пошуку й класифікації.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009233" y="2556371"/>
            <a:ext cx="3572877" cy="2894211"/>
          </a:xfrm>
          <a:prstGeom prst="rect">
            <a:avLst/>
          </a:prstGeom>
          <a:noFill/>
          <a:ln w="25399">
            <a:solidFill>
              <a:srgbClr val="CDD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37828" y="2769096"/>
            <a:ext cx="881140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0E7C86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03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8725277" y="2790686"/>
            <a:ext cx="2856833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53627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РІШЕННЯ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725277" y="3112254"/>
            <a:ext cx="2628239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B26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Перевага LLM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725277" y="3629720"/>
            <a:ext cx="2628239" cy="31651"/>
          </a:xfrm>
          <a:prstGeom prst="roundRect">
            <a:avLst>
              <a:gd name="adj" fmla="val 49998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725277" y="3843238"/>
            <a:ext cx="2628239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Робота без окремого навчання під кожну задачу, розуміння контексту й один інструмент для багатьох задач.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09585" y="5924550"/>
            <a:ext cx="10972526" cy="330200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Сучасні великі мовні моделі знімають бар'єр перенавчання окремих NLP-пайплайнів під кожен окремий тип документа.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820924" y="6327775"/>
            <a:ext cx="37077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100"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6499692F-A47E-A1CC-E890-BE4CFD97F648}"/>
              </a:ext>
            </a:extLst>
          </p:cNvPr>
          <p:cNvSpPr/>
          <p:nvPr/>
        </p:nvSpPr>
        <p:spPr>
          <a:xfrm>
            <a:off x="10977098" y="6589555"/>
            <a:ext cx="1135224" cy="2222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53627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ПЛАН ТА СТРУКТУРА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624"/>
            <a:ext cx="10972526" cy="467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200" dirty="0">
                <a:solidFill>
                  <a:srgbClr val="1B2632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Мета та завдання роботи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1571526"/>
            <a:ext cx="3986014" cy="4024412"/>
          </a:xfrm>
          <a:prstGeom prst="rect">
            <a:avLst/>
          </a:prstGeom>
          <a:solidFill>
            <a:srgbClr val="E7EA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38179" y="1805841"/>
            <a:ext cx="3757419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53627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ГОЛОВНА МЕТА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8179" y="2103914"/>
            <a:ext cx="3528825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400" dirty="0">
                <a:solidFill>
                  <a:srgbClr val="1B26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Комплексний аналіз можливостей Claude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38179" y="3100388"/>
            <a:ext cx="3528825" cy="226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Дослідити функціональні, архітектурні та практичні характеристики сімейства моделей Claude для автоматизації обробки текстової інформації в прикладних системах.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697097" y="1647726"/>
            <a:ext cx="6885014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A4756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1. Аналіз предметної області</a:t>
            </a:r>
            <a:r>
              <a:rPr lang="en-US" sz="1700" dirty="0">
                <a:solidFill>
                  <a:srgbClr val="3A47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систематизація існуючих підходів до NLP; роль сучасних LLM у прикладних процесах.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97097" y="2685554"/>
            <a:ext cx="6885014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A4756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2. Дослідження архітектури Claude</a:t>
            </a:r>
            <a:r>
              <a:rPr lang="en-US" sz="1700" dirty="0">
                <a:solidFill>
                  <a:srgbClr val="3A47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довгий контекст, технологія Constitutional AI, виклик інструментів.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97097" y="3723382"/>
            <a:ext cx="6885014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A4756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3. Порівняння з GPT і Gemini</a:t>
            </a:r>
            <a:r>
              <a:rPr lang="en-US" sz="1700" dirty="0">
                <a:solidFill>
                  <a:srgbClr val="3A47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ключові метрики, розміри контекстних вікон, точність обробки й економічні фактори.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97097" y="4761210"/>
            <a:ext cx="6885014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A4756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4. Визначення обмежень і перспектив</a:t>
            </a:r>
            <a:r>
              <a:rPr lang="en-US" sz="1700" dirty="0">
                <a:solidFill>
                  <a:srgbClr val="3A47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рекомендації щодо впровадження моделі в RAG-системи й аналітичні платформи.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09585" y="5924550"/>
            <a:ext cx="10972526" cy="330200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Методологічна основа: порівняльний аналіз, моделювання процесів, експериментальна перевірка API.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97097" y="2476004"/>
            <a:ext cx="6885014" cy="12700"/>
          </a:xfrm>
          <a:prstGeom prst="rect">
            <a:avLst/>
          </a:prstGeom>
          <a:solidFill>
            <a:srgbClr val="A7B3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97097" y="3513832"/>
            <a:ext cx="6885014" cy="12700"/>
          </a:xfrm>
          <a:prstGeom prst="rect">
            <a:avLst/>
          </a:prstGeom>
          <a:solidFill>
            <a:srgbClr val="A7B3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97097" y="4551660"/>
            <a:ext cx="6885014" cy="12700"/>
          </a:xfrm>
          <a:prstGeom prst="rect">
            <a:avLst/>
          </a:prstGeom>
          <a:solidFill>
            <a:srgbClr val="A7B3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820924" y="6242685"/>
            <a:ext cx="370771" cy="4152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F074F35-07E7-F9B3-61EA-3E8B335A3D86}"/>
              </a:ext>
            </a:extLst>
          </p:cNvPr>
          <p:cNvSpPr/>
          <p:nvPr/>
        </p:nvSpPr>
        <p:spPr>
          <a:xfrm>
            <a:off x="10977098" y="6550090"/>
            <a:ext cx="1135224" cy="2222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53627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МЕТОДОЛОГІЧНІ ОСНОВИ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624"/>
            <a:ext cx="10972526" cy="467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200" dirty="0">
                <a:solidFill>
                  <a:srgbClr val="1B2632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Об'єкт і предмет дослідження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86607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Взаємозв'язок між ширшою проблематикою обробки тексту та конкретною моделлю.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09585" y="1987451"/>
            <a:ext cx="10972526" cy="3664942"/>
          </a:xfrm>
          <a:prstGeom prst="roundRect">
            <a:avLst>
              <a:gd name="adj" fmla="val 884"/>
            </a:avLst>
          </a:prstGeom>
          <a:solidFill>
            <a:srgbClr val="E4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88978" y="2170966"/>
            <a:ext cx="10693132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53627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ШИРОКИЙ КОНТЕКСТ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88978" y="2469039"/>
            <a:ext cx="10413739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400" dirty="0">
                <a:solidFill>
                  <a:srgbClr val="3A47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Об'єкт дослідження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88978" y="3041253"/>
            <a:ext cx="1041373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Процеси інтелектуальної обробки, аналізу, трансформації та генерації текстової інформації за допомогою сучасних великих мовних моделей (LLM).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88978" y="3743722"/>
            <a:ext cx="10413739" cy="1730871"/>
          </a:xfrm>
          <a:prstGeom prst="roundRect">
            <a:avLst>
              <a:gd name="adj" fmla="val 1871"/>
            </a:avLst>
          </a:prstGeom>
          <a:solidFill>
            <a:srgbClr val="2A3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17572" y="3901837"/>
            <a:ext cx="1018514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ФОКУС РОБОТИ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7572" y="4199910"/>
            <a:ext cx="9956551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Предмет дослідження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17572" y="4772124"/>
            <a:ext cx="9956551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Функціональні можливості, архітектурні механізми, якісні показники та практичні аспекти використання сімейства моделей Claude для вирішення прикладних текстових задач.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09585" y="5928618"/>
            <a:ext cx="10972526" cy="330200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Предмет дослідження логічно вкладений в об'єкт як специфічна реалізація технологій LLM у сучасних програмних рішеннях.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820924" y="6158204"/>
            <a:ext cx="370771" cy="499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0416CC1-31A0-A389-980F-F48DFB8F0CE1}"/>
              </a:ext>
            </a:extLst>
          </p:cNvPr>
          <p:cNvSpPr/>
          <p:nvPr/>
        </p:nvSpPr>
        <p:spPr>
          <a:xfrm>
            <a:off x="10977098" y="6550090"/>
            <a:ext cx="1135224" cy="2222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53627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ТЕОРЕТИЧНИЙ БАЗИС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624"/>
            <a:ext cx="10972526" cy="934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200" dirty="0">
                <a:solidFill>
                  <a:srgbClr val="1B2632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Claude належить до decoder-only трансформерів, як GPT і Llama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053927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Сучасна класифікація генеративних архітектур глибокого навчання.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267" y="2530971"/>
            <a:ext cx="5347062" cy="29844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5924550"/>
            <a:ext cx="10972526" cy="330200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Авторегресійний принцип генерації передбачає послідовне прогнозування наступного токена на основі всього попереднього контексту.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820924" y="6130212"/>
            <a:ext cx="370771" cy="527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</a:t>
            </a:r>
            <a:endParaRPr lang="en-US" sz="11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7F86CAC-2E70-BAD4-7240-73CD22ECEA74}"/>
              </a:ext>
            </a:extLst>
          </p:cNvPr>
          <p:cNvSpPr/>
          <p:nvPr/>
        </p:nvSpPr>
        <p:spPr>
          <a:xfrm>
            <a:off x="10977098" y="6550090"/>
            <a:ext cx="1135224" cy="2222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53627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ТЕХНОЛОГІЧНІ ІННОВАЦІЇ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624"/>
            <a:ext cx="10972526" cy="467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200" dirty="0">
                <a:solidFill>
                  <a:srgbClr val="1B2632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Архітектурні особливості Claude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86607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Ключові інженерні рішення компанії Anthropic, що визначають ефективність моделі.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038251"/>
            <a:ext cx="302213" cy="3022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2490418"/>
            <a:ext cx="2419289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dirty="0">
                <a:solidFill>
                  <a:srgbClr val="1B26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Довгий контекст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09585" y="2876848"/>
            <a:ext cx="2419289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Підтримка вікна до 1 млн токенів. Дозволяє аналізувати сотні сторінок технічної чи юридичної документації в одному запиті.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3060" y="2038251"/>
            <a:ext cx="302213" cy="3022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13060" y="2490418"/>
            <a:ext cx="2190695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dirty="0">
                <a:solidFill>
                  <a:srgbClr val="1B26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Constitutional AI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3613060" y="2876848"/>
            <a:ext cx="2190695" cy="1933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Навчання з узгодженням за набором чітких правил і конституційних принципів без надмірної залежності від людської розмітки.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7940" y="2038251"/>
            <a:ext cx="302213" cy="3022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87940" y="2490418"/>
            <a:ext cx="2190695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dirty="0">
                <a:solidFill>
                  <a:srgbClr val="1B26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Tool use (API)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6387940" y="2876848"/>
            <a:ext cx="2190695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Надійна підтримка виклику зовнішніх інструментів, баз даних і калькуляторів із гарантованою валідацією JSON-схем.</a:t>
            </a:r>
            <a:endParaRPr lang="en-US" sz="14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2821" y="2038251"/>
            <a:ext cx="302213" cy="3022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62821" y="2490418"/>
            <a:ext cx="2419289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dirty="0">
                <a:solidFill>
                  <a:srgbClr val="1B26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Фокус на безпеці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9162821" y="2876848"/>
            <a:ext cx="2419289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Мінімізація галюцинацій, висока стійкість до prompt injection атак та коректна відмова від виконання небезпечних інструкцій.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609585" y="5924550"/>
            <a:ext cx="10972526" cy="330200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Поєднання великого контекстного вікна з парадигмою Constitutional AI робить модель особливо надійною для enterprise-застосувань.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3314617" y="2038251"/>
            <a:ext cx="12700" cy="2769791"/>
          </a:xfrm>
          <a:prstGeom prst="rect">
            <a:avLst/>
          </a:prstGeom>
          <a:solidFill>
            <a:srgbClr val="A7B3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6089498" y="2038251"/>
            <a:ext cx="12700" cy="2769791"/>
          </a:xfrm>
          <a:prstGeom prst="rect">
            <a:avLst/>
          </a:prstGeom>
          <a:solidFill>
            <a:srgbClr val="A7B3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8864378" y="2038251"/>
            <a:ext cx="12700" cy="2769791"/>
          </a:xfrm>
          <a:prstGeom prst="rect">
            <a:avLst/>
          </a:prstGeom>
          <a:solidFill>
            <a:srgbClr val="A7B3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11820924" y="6064898"/>
            <a:ext cx="370771" cy="5930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06D7E782-7A18-471C-7A8F-B55442AAB854}"/>
              </a:ext>
            </a:extLst>
          </p:cNvPr>
          <p:cNvSpPr/>
          <p:nvPr/>
        </p:nvSpPr>
        <p:spPr>
          <a:xfrm>
            <a:off x="10977098" y="6550090"/>
            <a:ext cx="1135224" cy="2222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53627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ПРАКТИЧНИЙ ПАЙПЛАЙН · ДОДАТОК 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624"/>
            <a:ext cx="10972526" cy="467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200" dirty="0">
                <a:solidFill>
                  <a:srgbClr val="1B2632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Схема обробки тексту за допомогою Claude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84226"/>
            <a:ext cx="10972526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Послідовність етапів проходження інформаційного потоку від сирого тексту до валідованого результату.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425601"/>
            <a:ext cx="539736" cy="539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3171408"/>
            <a:ext cx="3428914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400" dirty="0">
                <a:solidFill>
                  <a:srgbClr val="1B26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 Вхідний текст</a:t>
            </a:r>
            <a:endParaRPr lang="en-US" sz="2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688" y="2425601"/>
            <a:ext cx="539736" cy="539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95688" y="3171408"/>
            <a:ext cx="3200320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400" dirty="0">
                <a:solidFill>
                  <a:srgbClr val="1B26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 Підготовка підказки</a:t>
            </a:r>
            <a:endParaRPr lang="en-US" sz="2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196" y="2425601"/>
            <a:ext cx="539736" cy="539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53196" y="3171408"/>
            <a:ext cx="3428914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400" dirty="0">
                <a:solidFill>
                  <a:srgbClr val="1B26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 Запит до Claude через API</a:t>
            </a:r>
            <a:endParaRPr lang="en-US" sz="2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5" y="4469507"/>
            <a:ext cx="539736" cy="5397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9585" y="5215315"/>
            <a:ext cx="3428914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400" dirty="0">
                <a:solidFill>
                  <a:srgbClr val="1B26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4. Обробка моделлю</a:t>
            </a:r>
            <a:endParaRPr lang="en-US" sz="2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5688" y="4469507"/>
            <a:ext cx="539736" cy="5397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495688" y="5215315"/>
            <a:ext cx="3200320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400" dirty="0">
                <a:solidFill>
                  <a:srgbClr val="1B26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5. Результат</a:t>
            </a:r>
            <a:endParaRPr lang="en-US" sz="24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3196" y="4469507"/>
            <a:ext cx="539736" cy="53975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153196" y="5215315"/>
            <a:ext cx="3428914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400" dirty="0">
                <a:solidFill>
                  <a:srgbClr val="1B26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6. Перевірка людиною</a:t>
            </a:r>
            <a:endParaRPr lang="en-US" sz="2400" dirty="0"/>
          </a:p>
        </p:txBody>
      </p:sp>
      <p:sp>
        <p:nvSpPr>
          <p:cNvPr id="17" name="Text 9"/>
          <p:cNvSpPr/>
          <p:nvPr/>
        </p:nvSpPr>
        <p:spPr>
          <a:xfrm>
            <a:off x="609585" y="5829598"/>
            <a:ext cx="10972526" cy="330200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Схема передбачає обов'язковий етап фінального аудиту людиною в критичних сценаріях використання.</a:t>
            </a:r>
            <a:endParaRPr lang="en-US" sz="1250" dirty="0"/>
          </a:p>
        </p:txBody>
      </p:sp>
      <p:sp>
        <p:nvSpPr>
          <p:cNvPr id="18" name="Shape 10"/>
          <p:cNvSpPr/>
          <p:nvPr/>
        </p:nvSpPr>
        <p:spPr>
          <a:xfrm>
            <a:off x="4260743" y="2425601"/>
            <a:ext cx="12700" cy="1815306"/>
          </a:xfrm>
          <a:prstGeom prst="rect">
            <a:avLst/>
          </a:prstGeom>
          <a:solidFill>
            <a:srgbClr val="A7B3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1"/>
          <p:cNvSpPr/>
          <p:nvPr/>
        </p:nvSpPr>
        <p:spPr>
          <a:xfrm>
            <a:off x="7918252" y="2425601"/>
            <a:ext cx="12700" cy="1815306"/>
          </a:xfrm>
          <a:prstGeom prst="rect">
            <a:avLst/>
          </a:prstGeom>
          <a:solidFill>
            <a:srgbClr val="A7B3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2"/>
          <p:cNvSpPr/>
          <p:nvPr/>
        </p:nvSpPr>
        <p:spPr>
          <a:xfrm>
            <a:off x="609585" y="4234557"/>
            <a:ext cx="3657509" cy="12700"/>
          </a:xfrm>
          <a:prstGeom prst="rect">
            <a:avLst/>
          </a:prstGeom>
          <a:solidFill>
            <a:srgbClr val="A7B3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3"/>
          <p:cNvSpPr/>
          <p:nvPr/>
        </p:nvSpPr>
        <p:spPr>
          <a:xfrm>
            <a:off x="4260743" y="4240907"/>
            <a:ext cx="12700" cy="1388666"/>
          </a:xfrm>
          <a:prstGeom prst="rect">
            <a:avLst/>
          </a:prstGeom>
          <a:solidFill>
            <a:srgbClr val="A7B3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4"/>
          <p:cNvSpPr/>
          <p:nvPr/>
        </p:nvSpPr>
        <p:spPr>
          <a:xfrm>
            <a:off x="4267093" y="4234557"/>
            <a:ext cx="3657509" cy="12700"/>
          </a:xfrm>
          <a:prstGeom prst="rect">
            <a:avLst/>
          </a:prstGeom>
          <a:solidFill>
            <a:srgbClr val="A7B3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5"/>
          <p:cNvSpPr/>
          <p:nvPr/>
        </p:nvSpPr>
        <p:spPr>
          <a:xfrm>
            <a:off x="7918252" y="4240907"/>
            <a:ext cx="12700" cy="1388666"/>
          </a:xfrm>
          <a:prstGeom prst="rect">
            <a:avLst/>
          </a:prstGeom>
          <a:solidFill>
            <a:srgbClr val="A7B3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6"/>
          <p:cNvSpPr/>
          <p:nvPr/>
        </p:nvSpPr>
        <p:spPr>
          <a:xfrm>
            <a:off x="7924602" y="4234557"/>
            <a:ext cx="3657509" cy="12700"/>
          </a:xfrm>
          <a:prstGeom prst="rect">
            <a:avLst/>
          </a:prstGeom>
          <a:solidFill>
            <a:srgbClr val="A7B3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7"/>
          <p:cNvSpPr/>
          <p:nvPr/>
        </p:nvSpPr>
        <p:spPr>
          <a:xfrm>
            <a:off x="11820924" y="6159798"/>
            <a:ext cx="370771" cy="498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07</a:t>
            </a:r>
            <a:endParaRPr lang="en-US" sz="1100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043C8A74-8787-8B26-7AFF-0B5863867A22}"/>
              </a:ext>
            </a:extLst>
          </p:cNvPr>
          <p:cNvSpPr/>
          <p:nvPr/>
        </p:nvSpPr>
        <p:spPr>
          <a:xfrm>
            <a:off x="10977098" y="6550090"/>
            <a:ext cx="1135224" cy="2222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182053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53627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ТИПОЛОГІЯ ПРИКЛАДНИХ ЗАДАЧ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477361"/>
            <a:ext cx="10972526" cy="467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200" dirty="0">
                <a:solidFill>
                  <a:srgbClr val="1B2632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Claude вирішує шість класів задач обробки тексту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2150963"/>
            <a:ext cx="3581310" cy="1689100"/>
          </a:xfrm>
          <a:prstGeom prst="roundRect">
            <a:avLst>
              <a:gd name="adj" fmla="val 1917"/>
            </a:avLst>
          </a:prstGeom>
          <a:noFill/>
          <a:ln w="25399">
            <a:solidFill>
              <a:srgbClr val="CDD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88978" y="2430363"/>
            <a:ext cx="647684" cy="6477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899" y="2592288"/>
            <a:ext cx="323842" cy="3238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8978" y="3211413"/>
            <a:ext cx="3022524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1B26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Узагальнення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343291" y="2150963"/>
            <a:ext cx="3505112" cy="1689100"/>
          </a:xfrm>
          <a:prstGeom prst="roundRect">
            <a:avLst>
              <a:gd name="adj" fmla="val 1917"/>
            </a:avLst>
          </a:prstGeom>
          <a:noFill/>
          <a:ln w="25399">
            <a:solidFill>
              <a:srgbClr val="CDD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622684" y="2430363"/>
            <a:ext cx="647684" cy="6477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4605" y="2592288"/>
            <a:ext cx="323842" cy="3238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22684" y="3211413"/>
            <a:ext cx="29463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1B26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Аналіз тональності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8000800" y="2150963"/>
            <a:ext cx="3581310" cy="1689100"/>
          </a:xfrm>
          <a:prstGeom prst="roundRect">
            <a:avLst>
              <a:gd name="adj" fmla="val 1917"/>
            </a:avLst>
          </a:prstGeom>
          <a:noFill/>
          <a:ln w="25399">
            <a:solidFill>
              <a:srgbClr val="CDD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8280193" y="2430363"/>
            <a:ext cx="647684" cy="6477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2114" y="2592288"/>
            <a:ext cx="323842" cy="3238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80193" y="3211413"/>
            <a:ext cx="3022524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1B26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Вилучення сутностей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609585" y="3992463"/>
            <a:ext cx="3581310" cy="1689100"/>
          </a:xfrm>
          <a:prstGeom prst="roundRect">
            <a:avLst>
              <a:gd name="adj" fmla="val 1917"/>
            </a:avLst>
          </a:prstGeom>
          <a:noFill/>
          <a:ln w="25399">
            <a:solidFill>
              <a:srgbClr val="CDD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888978" y="4271863"/>
            <a:ext cx="647684" cy="6477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899" y="4433788"/>
            <a:ext cx="323842" cy="3238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88978" y="5052913"/>
            <a:ext cx="3022524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1B26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Класифікація</a:t>
            </a:r>
            <a:endParaRPr lang="en-US" sz="2000" dirty="0"/>
          </a:p>
        </p:txBody>
      </p:sp>
      <p:sp>
        <p:nvSpPr>
          <p:cNvPr id="20" name="Shape 14"/>
          <p:cNvSpPr/>
          <p:nvPr/>
        </p:nvSpPr>
        <p:spPr>
          <a:xfrm>
            <a:off x="4343291" y="3992463"/>
            <a:ext cx="3505112" cy="1689100"/>
          </a:xfrm>
          <a:prstGeom prst="roundRect">
            <a:avLst>
              <a:gd name="adj" fmla="val 1917"/>
            </a:avLst>
          </a:prstGeom>
          <a:noFill/>
          <a:ln w="25399">
            <a:solidFill>
              <a:srgbClr val="CDD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4622684" y="4271863"/>
            <a:ext cx="647684" cy="6477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4605" y="4433788"/>
            <a:ext cx="323842" cy="3238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622684" y="5052913"/>
            <a:ext cx="29463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1B26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Переклад</a:t>
            </a:r>
            <a:endParaRPr lang="en-US" sz="2000" dirty="0"/>
          </a:p>
        </p:txBody>
      </p:sp>
      <p:sp>
        <p:nvSpPr>
          <p:cNvPr id="24" name="Shape 17"/>
          <p:cNvSpPr/>
          <p:nvPr/>
        </p:nvSpPr>
        <p:spPr>
          <a:xfrm>
            <a:off x="8000800" y="3992463"/>
            <a:ext cx="3581310" cy="1689100"/>
          </a:xfrm>
          <a:prstGeom prst="roundRect">
            <a:avLst>
              <a:gd name="adj" fmla="val 1917"/>
            </a:avLst>
          </a:prstGeom>
          <a:noFill/>
          <a:ln w="25399">
            <a:solidFill>
              <a:srgbClr val="CDD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8280193" y="4271863"/>
            <a:ext cx="647684" cy="6477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2114" y="4433788"/>
            <a:ext cx="323842" cy="32385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280193" y="5052913"/>
            <a:ext cx="3022524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1B26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Генерація</a:t>
            </a:r>
            <a:endParaRPr lang="en-US" sz="2000" dirty="0"/>
          </a:p>
        </p:txBody>
      </p:sp>
      <p:sp>
        <p:nvSpPr>
          <p:cNvPr id="28" name="Text 20"/>
          <p:cNvSpPr/>
          <p:nvPr/>
        </p:nvSpPr>
        <p:spPr>
          <a:xfrm>
            <a:off x="11820924" y="6120882"/>
            <a:ext cx="370771" cy="5370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08</a:t>
            </a:r>
            <a:endParaRPr lang="en-US" sz="1100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7AF19AA0-30EC-3CCC-7FFA-7093B677B24E}"/>
              </a:ext>
            </a:extLst>
          </p:cNvPr>
          <p:cNvSpPr/>
          <p:nvPr/>
        </p:nvSpPr>
        <p:spPr>
          <a:xfrm>
            <a:off x="10977098" y="6550090"/>
            <a:ext cx="1135224" cy="2222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879"/>
            <a:ext cx="11582110" cy="195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53627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КОМПАРАТИВНИЙ АНАЛІЗ · ДОДАТОК В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0207"/>
            <a:ext cx="10972526" cy="444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050" dirty="0">
                <a:solidFill>
                  <a:srgbClr val="1B2632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Порівняння Claude з GPT та Gemini</a:t>
            </a:r>
            <a:endParaRPr lang="en-US" sz="3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501180"/>
          <a:ext cx="10972525" cy="4784407"/>
        </p:xfrm>
        <a:graphic>
          <a:graphicData uri="http://schemas.openxmlformats.org/drawingml/2006/table">
            <a:tbl>
              <a:tblPr/>
              <a:tblGrid>
                <a:gridCol w="13166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47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4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2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79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632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Модель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632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Контекстне вікно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632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Вартість (узагальнено)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632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Сильні сторони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632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Слабкі сторони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42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3A4756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Claude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3A4756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До 1 млн токенів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A4756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Середня (уточнити за актуальним прайсом)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A4756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Робота з довгими текстами; Constitutional AI; точність вилучення фактів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A4756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Вужча екосистема сторонніх плагінів порівняно з лідерами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77796" marR="126997" marT="88898" marB="8889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42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3A4756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GPT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A4756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128k – 200k токенів (уточнити за актуальним прайсом)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A4756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Базова ринкова (уточнити за актуальним прайсом)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A4756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Найширша екосистема; розвинута спільнота; підтримка GPTs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A4756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Деградація якості («голка в копиці сіна») на граничних довжинах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77796" marR="126997" marT="88898" marB="8889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79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3A4756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Gemini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A4756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До 1 млн – 2 млн токенів (уточнити за актуальним прайсом)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A4756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Конкурентна (уточнити за актуальним прайсом)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A4756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Глибока інтеграція з екосистемою Google; нативна мультимодальність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A4756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Схильність до надмірної фільтрації відповідей; мінливість виводу</a:t>
                      </a:r>
                      <a:endParaRPr lang="en-US" sz="16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77796" marR="126997" marT="88898" marB="8889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820924" y="6240121"/>
            <a:ext cx="370771" cy="417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09</a:t>
            </a:r>
            <a:endParaRPr lang="en-US" sz="11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E987F0A-488D-8EC1-C73C-C9B353746224}"/>
              </a:ext>
            </a:extLst>
          </p:cNvPr>
          <p:cNvSpPr/>
          <p:nvPr/>
        </p:nvSpPr>
        <p:spPr>
          <a:xfrm>
            <a:off x="10977098" y="6550090"/>
            <a:ext cx="1135224" cy="2222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53627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ПРАКТИЧНЕ ВПРОВАДЖЕННЯ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624"/>
            <a:ext cx="10972526" cy="467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200" dirty="0">
                <a:solidFill>
                  <a:srgbClr val="1B2632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Практичне застосування Claude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84226"/>
            <a:ext cx="1158211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3A47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Архітектурні патерни розгортання моделі у сучасній IT-інфраструктурі.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04792" y="2158901"/>
            <a:ext cx="1158211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A4756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Claude Core LLM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585" y="2676426"/>
            <a:ext cx="1950691" cy="2613025"/>
          </a:xfrm>
          <a:prstGeom prst="rect">
            <a:avLst/>
          </a:prstGeom>
          <a:solidFill>
            <a:srgbClr val="E4EA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2905026"/>
            <a:ext cx="539736" cy="5397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8179" y="3644801"/>
            <a:ext cx="1493502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3A47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Чат-боти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864969" y="2676426"/>
            <a:ext cx="1950691" cy="2613025"/>
          </a:xfrm>
          <a:prstGeom prst="rect">
            <a:avLst/>
          </a:prstGeom>
          <a:solidFill>
            <a:srgbClr val="E4EA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3563" y="2905026"/>
            <a:ext cx="539736" cy="539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093563" y="3644801"/>
            <a:ext cx="149350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3A47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Аналіз документів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5120353" y="2676426"/>
            <a:ext cx="1950889" cy="2613025"/>
          </a:xfrm>
          <a:prstGeom prst="rect">
            <a:avLst/>
          </a:prstGeom>
          <a:solidFill>
            <a:srgbClr val="E4EA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8947" y="2905026"/>
            <a:ext cx="539736" cy="5397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48947" y="3644801"/>
            <a:ext cx="1493701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3A47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Системи підтримки прийняття рішень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7375936" y="2676426"/>
            <a:ext cx="1950691" cy="2613025"/>
          </a:xfrm>
          <a:prstGeom prst="rect">
            <a:avLst/>
          </a:prstGeom>
          <a:solidFill>
            <a:srgbClr val="E4EA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4530" y="2905026"/>
            <a:ext cx="539736" cy="5397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604530" y="3644801"/>
            <a:ext cx="149350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3A47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RAG-системи</a:t>
            </a:r>
            <a:endParaRPr lang="en-US" sz="2000" dirty="0"/>
          </a:p>
        </p:txBody>
      </p:sp>
      <p:sp>
        <p:nvSpPr>
          <p:cNvPr id="18" name="Shape 12"/>
          <p:cNvSpPr/>
          <p:nvPr/>
        </p:nvSpPr>
        <p:spPr>
          <a:xfrm>
            <a:off x="9631320" y="2676426"/>
            <a:ext cx="1950790" cy="2613025"/>
          </a:xfrm>
          <a:prstGeom prst="rect">
            <a:avLst/>
          </a:prstGeom>
          <a:solidFill>
            <a:srgbClr val="E4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9859914" y="2911376"/>
            <a:ext cx="149360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3A475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Інтеграція через API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09585" y="5565676"/>
            <a:ext cx="10972526" cy="330200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Найбільш ефективним патерном для збереження корпоративних знань є гібридна архітектура RAG з підключенням Claude через API.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11820924" y="6032565"/>
            <a:ext cx="370771" cy="62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</a:t>
            </a:r>
            <a:endParaRPr lang="en-US" sz="1100"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E97B90A-61B8-C0A8-74EF-5676E0F1C661}"/>
              </a:ext>
            </a:extLst>
          </p:cNvPr>
          <p:cNvSpPr/>
          <p:nvPr/>
        </p:nvSpPr>
        <p:spPr>
          <a:xfrm>
            <a:off x="10977098" y="6550090"/>
            <a:ext cx="1135224" cy="2222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942</Words>
  <Application>Microsoft Office PowerPoint</Application>
  <PresentationFormat>Широкоэкранный</PresentationFormat>
  <Paragraphs>136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Arial</vt:lpstr>
      <vt:lpstr>Rubik SemiBold</vt:lpstr>
      <vt:lpstr>Rubik ExtraBold</vt:lpstr>
      <vt:lpstr>Noto Sans SemiBold</vt:lpstr>
      <vt:lpstr>Noto Sans</vt:lpstr>
      <vt:lpstr>Noto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Alexander Gavrylov</cp:lastModifiedBy>
  <cp:revision>2</cp:revision>
  <dcterms:created xsi:type="dcterms:W3CDTF">2026-10-15T07:57:43Z</dcterms:created>
  <dcterms:modified xsi:type="dcterms:W3CDTF">2026-10-15T08:05:21Z</dcterms:modified>
</cp:coreProperties>
</file>